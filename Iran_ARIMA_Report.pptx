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3657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rgbClr val="1A3A5C"/>
                </a:solidFill>
              </a:rPr>
              <a:t>ARIMA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4A017"/>
                </a:solidFill>
              </a:rPr>
              <a:t>TIME SERIES 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Iran Economic Report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AFC8"/>
                </a:solidFill>
              </a:rPr>
              <a:t>GDP per Capita  ·  Inflation  ·  Unemployment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572000" cy="0"/>
          </a:xfrm>
          <a:prstGeom prst="line">
            <a:avLst/>
          </a:prstGeom>
          <a:noFill/>
          <a:ln w="1905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246120"/>
            <a:ext cx="1920240" cy="777240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ACCF"/>
                </a:solidFill>
              </a:rPr>
              <a:t>COUNTRY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Iran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3246120"/>
            <a:ext cx="1920240" cy="777240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ACCF"/>
                </a:solidFill>
              </a:rPr>
              <a:t>DATA PERIOD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6032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1990 – 2024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3246120"/>
            <a:ext cx="1920240" cy="777240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ACCF"/>
                </a:solidFill>
              </a:rPr>
              <a:t>OBSERVATIONS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35 Annual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3246120"/>
            <a:ext cx="1920240" cy="777240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7AACCF"/>
                </a:solidFill>
              </a:rPr>
              <a:t>FORECAST HORIZON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2025 – 2029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2651760" cy="68580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GDP Model: ARIMA(2,1,1)  R² = 0.882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4206240"/>
            <a:ext cx="2651760" cy="68580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Inflation Model: ARIMA(1,1,1)  R² = 0.281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206240"/>
            <a:ext cx="2651760" cy="68580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206240"/>
            <a:ext cx="265176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Unemployment Model: ARIMA(2,1,1)  R² = 0.593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80A0"/>
                </a:solidFill>
              </a:rPr>
              <a:t>March 2026  |  Economic Research Unit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Key findings from ARIMA modelling of Iran's macroeconomy (1990–2029)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2011680" cy="4572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EA1"/>
                </a:solidFill>
              </a:rPr>
              <a:t>$5,637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GDP 2029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Per Capita USD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60120"/>
            <a:ext cx="201168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34.6%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Inflation 2029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Persistently Elevated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20116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7.98%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Unemployment 2029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Marginal Improvement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60120"/>
            <a:ext cx="2011680" cy="45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</a:rPr>
              <a:t>−19%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Conflict GDP 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vs. Baseline by 2027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1488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148840"/>
            <a:ext cx="3657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488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7512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I(1) Integration Confirmed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" y="2532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All three series require first differencing — confirming persistent structural trends in Iran's economy rather than transitory shocks.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90872" y="21488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148840"/>
            <a:ext cx="3657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1488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9784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GDP Model Reliable (R²=0.882)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9784" y="25328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Strong predictive fit. Modest recovery projected to $5,637/capita by 2029 — still ~30% below the 2011–12 peak of ~$8,000.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" y="35204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520440"/>
            <a:ext cx="3657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520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67512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Inflation Driven by Exogenous Shocks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7512" y="39044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Low R² (0.28) confirms inflation is dominated by sanctions, exchange rate collapse, and monetary expansion — not ARIMA-predictable dynamics.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90872" y="3520440"/>
            <a:ext cx="4297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520440"/>
            <a:ext cx="365760" cy="1188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520440"/>
            <a:ext cx="365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29784" y="3611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Geopolitical Tail Risk is Material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9784" y="39044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Conflict escalation could shave 19% off GDP and push inflation above 52% — historically plausible given 2018–2020 precedent.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&amp; Data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Box-Jenkins ARIMA framework applied to 35 years of Iranian macroeconomic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" y="106984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6459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Data Preprocessing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9842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35 annual observations (1990–2024). Missing values interpolated. Three variables: GDP per capita (USD), Inflation (%), and Unemployment (%).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0128" y="106984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16459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Stationarity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842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Augmented Dickey-Fuller (ADF) test applied in levels and first differences. MacKinnon critical values: −3.51 (1%), −2.89 (5%), −2.58 (10%).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96012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81928" y="106984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81928" y="16459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Order Identification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81928" y="198424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ACF and PACF plots of differenced series used to identify p (AR order) and q (MA order). Differencing order d determined from ADF results.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" y="308152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" y="36576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Model Estimation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" y="399592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ARIMA coefficients estimated via OLS on differenced series. Goodness-of-fit metrics: R², AIC, BIC, RMSE, and MAE for model comparison.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10128" y="308152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012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6576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10128" y="399592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5-year point forecasts (2025–2029) with 95% confidence bands widening proportionally with horizon using residual standard deviation.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297180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81928" y="308152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192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06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81928" y="365760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Scenario 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81928" y="3995928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Three geopolitical scenarios: Baseline, Conflict Escalation, Sanctions Tightening. Structured shocks applied to ARIMA baseline forecasts.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Stationarity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ADF test confirms all three series are I(1): stationary only after first differencing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ADF Test Results at Levels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41148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Level t-stat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GDP per Capita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−1.42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Non-Stationary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Inflation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−2.11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Non-Stationary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Unemployment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−1.87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</a:rPr>
                        <a:t>Non-Stationary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ADF Test Results After First Differencing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999232"/>
          <a:ext cx="411480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Variable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Diff. t-stat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EA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GDP per Capita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−4.81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Stationary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Inflation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−5.43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Stationary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Unemployment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533"/>
                          </a:solidFill>
                        </a:rPr>
                        <a:t>−4.22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Stationary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800600" y="914400"/>
            <a:ext cx="4114800" cy="3474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8348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983480" y="1389888"/>
            <a:ext cx="3474720" cy="0"/>
          </a:xfrm>
          <a:prstGeom prst="line">
            <a:avLst/>
          </a:prstGeom>
          <a:noFill/>
          <a:ln w="12700">
            <a:solidFill>
              <a:srgbClr val="D4A01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83480" y="155448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834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d = 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577840" y="157276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All three series require exactly one round of first differencing to achieve stationarity — d = 1 is consistent across all models.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83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∞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577840" y="25786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Shocks have permanent effects: I(1) series do not revert to a deterministic trend after a disruption.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983480" y="3566160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9834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⚠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577840" y="35844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</a:rPr>
              <a:t>This confirms that Iran's economy undergoes persistent structural shifts — not transitory fluctuations — driven by sanctions, oil shocks, and geopolitical events.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ACF &amp; PACF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Lag structure diagnostics on first-differenced series for ARIMA order selection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2834640" cy="50292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GDP per Capita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</a:rPr>
              <a:t>Selected 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7EA1"/>
                </a:solidFill>
              </a:rPr>
              <a:t>ARIMA(2,1,1)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ACF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906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PACF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904488"/>
            <a:ext cx="256032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AR(2) captures two lags; MA(1) corrects short-run shocks. Reflects more complex GDP / unemployment cycles.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960120"/>
            <a:ext cx="28346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</a:rPr>
              <a:t>Selected Model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</a:rPr>
              <a:t>ARIMA(1,1,1)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3337560" y="219456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ACF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06324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30906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PACF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3756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37560" y="3904488"/>
            <a:ext cx="256032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AR(1) captures one lag of own dynamics; MA(1) corrects short-run shocks. Suitable for simpler inflation patterns.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960120"/>
            <a:ext cx="28346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960120"/>
            <a:ext cx="283464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960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Unemployment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DEEFF"/>
                </a:solidFill>
              </a:rPr>
              <a:t>Selected 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</a:rPr>
              <a:t>ARIMA(2,1,1)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309360" y="219456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221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ACF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242316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3063240"/>
            <a:ext cx="25603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0906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9A"/>
                </a:solidFill>
              </a:rPr>
              <a:t>PACF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09360" y="3291840"/>
            <a:ext cx="256032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33"/>
                </a:solidFill>
              </a:rPr>
              <a:t>Cuts off at lag 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09360" y="3904488"/>
            <a:ext cx="256032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AR(2) captures two lags; MA(1) corrects short-run shocks. Reflects more complex GDP / unemployment cycles.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ARIMA Forecasts: 2025–2029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Baseline point forecasts with 95% confidence bands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5120640" cy="237744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GDP per Capita (USD)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Inflation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Unemployment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$5,250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32.6%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8.28%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2026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$5,328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33.1%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8.24%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2027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$5,429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33.6%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8.13%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2028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$5,535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34.1%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8.04%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533"/>
                          </a:solidFill>
                        </a:rPr>
                        <a:t>2029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7EA1"/>
                          </a:solidFill>
                        </a:rPr>
                        <a:t>$5,637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</a:rPr>
                        <a:t>34.6%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017"/>
                          </a:solidFill>
                        </a:rPr>
                        <a:t>7.98%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96012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960120"/>
            <a:ext cx="73152" cy="91440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15584" y="10332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GDP — ARIMA(2,1,1)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15584" y="1325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R² = 0.882   AIC: 461.5   RMSE: $680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01168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011680"/>
            <a:ext cx="73152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15584" y="2084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Inflation — ARIMA(1,1,1)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15584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R² = 0.281   AIC: 164.0   RMSE: 9.84%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69280" y="306324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3063240"/>
            <a:ext cx="73152" cy="914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15584" y="3136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Unemployment — ARIMA(2,1,1)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815584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9A"/>
                </a:solidFill>
              </a:rPr>
              <a:t>R² = 0.593   AIC: −6.00   RMSE: 0.856%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3493008"/>
            <a:ext cx="8549640" cy="109728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Forecast Interpretation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2920" y="38221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3"/>
                </a:solidFill>
              </a:rPr>
              <a:t>GDP shows cautious but steady recovery (+7.4% over 5 years) constrained by sanctions-era structural damage. Inflation remains persistently elevated at 32–35% due to monetary policy and exchange rate weakness. Unemployment sees only marginal improvement as workforce growth outpaces job creation. All forecasts assume no major new geopolitical shock.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ARIMA Interpretation: GDP per Capita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ARIMA(2,1,1) — Strong fit capturing Iran's oil-driven economic cycles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2011680" cy="4572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EA1"/>
                </a:solidFill>
              </a:rPr>
              <a:t>0.882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R² — Excellent 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960120"/>
            <a:ext cx="2011680" cy="457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A7A"/>
                </a:solidFill>
              </a:rPr>
              <a:t>461.5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AIC — Model Selection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20116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$680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RMSE — Residual Error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60120"/>
            <a:ext cx="2011680" cy="457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698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F3C"/>
                </a:solidFill>
              </a:rPr>
              <a:t>$5,637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9A"/>
                </a:solidFill>
              </a:rPr>
              <a:t>2029 Forecast (per capita USD)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1031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2103120"/>
            <a:ext cx="411480" cy="1207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03120"/>
            <a:ext cx="411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" y="21945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AR(1) = +0.346 — Positive Momentum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250545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Above-average GDP growth in one year tends to persist into the next. Consistent with Iran's oil revenue boom cycles — high oil prices generate sustained multi-year growth spells.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90872" y="21031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90872" y="2103120"/>
            <a:ext cx="411480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103120"/>
            <a:ext cx="411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75504" y="21945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AR(2) = −0.224 — Mean Reversion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75504" y="250545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Negative second-order term creates mean reversion after two periods. Economic shocks — whether from oil windfalls or sanctions — do not compound indefinitely.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4747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474720"/>
            <a:ext cx="411480" cy="1207008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474720"/>
            <a:ext cx="411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3232" y="3566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Forecast: Cautious Recovery ($5,250 → $5,637)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387705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Projected rise of +7.4% over 2025–2029, assuming no new major disruptions. Still ~30% below the 2011–12 peak of ~$8,000, reflecting permanent income losses from sanctions.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90872" y="3474720"/>
            <a:ext cx="42976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90872" y="3474720"/>
            <a:ext cx="411480" cy="1207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90872" y="3474720"/>
            <a:ext cx="411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175504" y="3566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</a:rPr>
              <a:t>RMSE = $680 — High Volatility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75504" y="3877056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Wide residuals reflect repeated sanctions shocks (2012–15, 2018–20), oil price collapses, and COVID-19 — all exogenous events the AR structure cannot predict.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ARIMA Interpretation: Inflation &amp; Unemployment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ARIMA(1,1,1) and ARIMA(2,1,1) — structural limits and labour dynamics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51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14400"/>
            <a:ext cx="425196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41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Inflation — ARIMA(1,1,1)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R² = 0.281  |  AIC: 164.0  |  Forecast: 32–35%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1591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Weak Fit (R²=0.28)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Inflation driven by exchange rate collapses, monetary financing of deficits, and import disruptions. ARIMA alone cannot capture these structural breaks.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368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AR(1) = −0.070 (Near-Zero)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Each year's inflation shock is largely independent of the last — confirming high unpredictability from own history.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145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Forecast: 32–35% Persistently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Persistently elevated inflation through 2029 due to weak rial, expansionary monetary policy, and import barriers.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904488"/>
            <a:ext cx="292608" cy="29260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922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RMSE = 9.84%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1520" y="41788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Large residuals from 2018–2023 hyperinflationary episodes (&gt;40–70%) that deviated sharply from ARIMA trend predictions.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90872" y="914400"/>
            <a:ext cx="425196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914400"/>
            <a:ext cx="425196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9418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Unemployment — ARIMA(2,1,1)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118872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R² = 0.593  |  AIC: −6.00  |  Forecast: 8.28% → 7.98%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28032" y="1572768"/>
            <a:ext cx="292608" cy="2926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15910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Moderate Fit (R²=0.593)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93792" y="184708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Model explains ~59% of unemployment change dynamics. Labour markets are relatively more stable than Iran's monetary indicators.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2350008"/>
            <a:ext cx="292608" cy="2926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236829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AR(1)=+0.194, AR(2)=−0.192 (Dampened)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93792" y="26243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Near-symmetric oscillating terms indicate dampened cycles — unemployment rises are partially self-correcting over two years.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28032" y="3127248"/>
            <a:ext cx="292608" cy="2926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93792" y="31455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Declining Trend (8.28% → 7.98%)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93792" y="34015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Marginal improvement projected. Structural unemployment from a young, growing workforce constrains larger gains.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28032" y="3904488"/>
            <a:ext cx="292608" cy="29260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803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93792" y="392277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F3C"/>
                </a:solidFill>
              </a:rPr>
              <a:t>Negative AIC = −6.00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93792" y="41788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33"/>
                </a:solidFill>
              </a:rPr>
              <a:t>Excellent relative fit given small RMSE (0.856%). Youth unemployment (~26%) not captured — a key unmeasured risk.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War-Related Economic Scenario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Three forward-looking scenarios applied to ARIMA baseline forecasts (2025–2029)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71524"/>
          </a:solidFill>
          <a:ln w="12700">
            <a:solidFill>
              <a:srgbClr val="071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War-Related Economic Scenario Analysis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AFC8"/>
                </a:solidFill>
              </a:rPr>
              <a:t>Three forward-looking scenarios applied to ARIMA baseline forecasts (2025–2029)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005840"/>
            <a:ext cx="2788920" cy="3794760"/>
          </a:xfrm>
          <a:prstGeom prst="rect">
            <a:avLst/>
          </a:prstGeom>
          <a:solidFill>
            <a:srgbClr val="0F2D4E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005840"/>
            <a:ext cx="2788920" cy="50292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645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GDP 2029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18653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EA1"/>
                </a:solidFill>
              </a:rPr>
              <a:t>$5,806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2377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Inflation 2029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5968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EA1"/>
                </a:solidFill>
              </a:rPr>
              <a:t>32.2%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Unemployment 2029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3284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7EA1"/>
                </a:solidFill>
              </a:rPr>
              <a:t>7.7%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2514600" cy="0"/>
          </a:xfrm>
          <a:prstGeom prst="line">
            <a:avLst/>
          </a:prstGeom>
          <a:noFill/>
          <a:ln w="9525">
            <a:solidFill>
              <a:srgbClr val="1E7E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931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B8D0"/>
                </a:solidFill>
              </a:rPr>
              <a:t>Trigger: Partial JCPOA progress; continued but stable sanctions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27832" y="1005840"/>
            <a:ext cx="2788920" cy="3794760"/>
          </a:xfrm>
          <a:prstGeom prst="rect">
            <a:avLst/>
          </a:prstGeom>
          <a:solidFill>
            <a:srgbClr val="0F2D4E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1005840"/>
            <a:ext cx="27889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CONFLICT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ESCALATION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64992" y="1645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GDP 2029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64992" y="18653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$4,623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64992" y="2377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Inflation 2029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64992" y="25968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52.0%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64992" y="3108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Unemployment 2029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64992" y="33284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392B"/>
                </a:solidFill>
              </a:rPr>
              <a:t>10.4%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364992" y="3840480"/>
            <a:ext cx="2514600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3931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B8D0"/>
                </a:solidFill>
              </a:rPr>
              <a:t>Trigger: Israeli/US strikes on nuclear sites; Strait of Hormuz closure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1005840"/>
            <a:ext cx="2788920" cy="3794760"/>
          </a:xfrm>
          <a:prstGeom prst="rect">
            <a:avLst/>
          </a:prstGeom>
          <a:solidFill>
            <a:srgbClr val="0F2D4E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1344" y="1005840"/>
            <a:ext cx="27889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1005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SANCTIONS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TIGHTENING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18504" y="16459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GDP 2029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18504" y="186537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$5,130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318504" y="23774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Inflation 2029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18504" y="25968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43.3%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318504" y="3108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ACCF"/>
                </a:solidFill>
              </a:rPr>
              <a:t>Unemployment 2029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318504" y="332841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</a:rPr>
              <a:t>8.9%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318504" y="3840480"/>
            <a:ext cx="2514600" cy="0"/>
          </a:xfrm>
          <a:prstGeom prst="line">
            <a:avLst/>
          </a:prstGeom>
          <a:noFill/>
          <a:ln w="9525">
            <a:solidFill>
              <a:srgbClr val="D4A0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39319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B8D0"/>
                </a:solidFill>
              </a:rPr>
              <a:t>Trigger: New US/EU oil/SWIFT sanctions; reduced Chinese compliance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80A0"/>
                </a:solidFill>
              </a:rPr>
              <a:t>9 / 12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80A0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Scenario Narratives &amp; 2029 End-State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Quantified impact vectors for each geopolitical 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960120"/>
            <a:ext cx="1280160" cy="1234440"/>
          </a:xfrm>
          <a:prstGeom prst="rect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96012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033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GDP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3736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EA1"/>
                </a:solidFill>
              </a:rPr>
              <a:t>$5,806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63240" y="1033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Inflation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EA1"/>
                </a:solidFill>
              </a:rPr>
              <a:t>32.2%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389120" y="10332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Unemp.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0" y="1234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7EA1"/>
                </a:solidFill>
              </a:rPr>
              <a:t>7.7%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669280" y="1033272"/>
            <a:ext cx="0" cy="109728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0058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Trigger: Partial JCPOA progress; continued but stable sanctions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806440" y="13075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Iran maintains sanctions-constrained growth. Partial diplomacy keeps oil exports at 1.5–2 mb/d. Inflation stabilises around 30–35%. Most likely near-term path absent a major shock.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313432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313432"/>
            <a:ext cx="12801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313432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Conflict Escalation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2386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GDP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37360" y="2587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$4,623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063240" y="2386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Inflation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63240" y="2587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52.0%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2386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Unemp.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389120" y="25877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10.4%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69280" y="2386584"/>
            <a:ext cx="0" cy="109728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3591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Trigger: Israeli/US strikes on nuclear sites; Strait of Hormuz closure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806440" y="2660904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Oil exports halt; rial collapses further (inflation could reach 60–80%). FDI freezes. GDP plunges below 2020 lows. Hormuz closure ripples into global energy markets.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666744"/>
            <a:ext cx="8686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3666744"/>
            <a:ext cx="1280160" cy="12344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666744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Sanctions Tightening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3739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GDP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737360" y="39410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$5,130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063240" y="3739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Inflation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39410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43.3%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389120" y="3739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9A"/>
                </a:solidFill>
              </a:rPr>
              <a:t>Unemp.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89120" y="394106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8.9%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669280" y="3739896"/>
            <a:ext cx="0" cy="109728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371246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8C9A"/>
                </a:solidFill>
              </a:rPr>
              <a:t>Trigger: New US/EU oil/SWIFT sanctions; reduced Chinese compliance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806440" y="4014216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533"/>
                </a:solidFill>
              </a:rPr>
              <a:t>No military conflict but new sanctions constrain oil revenues and financial intermediaries. GDP falls 9% vs baseline. Inflation sticky at 38–45%, driven by rial weakness and fiscal monetisation.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Historical Precedents &amp; Transmission Channels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06640" y="109728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9A"/>
                </a:solidFill>
              </a:rPr>
              <a:t>Iran's economic history validates scenario shock magnitudes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9A"/>
                </a:solidFill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4846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Iran ARIMA Economic Analysis  ·  1990–2029  ·  Economic Research Unit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2012–15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B8D0"/>
                </a:solidFill>
              </a:rPr>
              <a:t>Sanctions Regime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029968"/>
            <a:ext cx="21031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0665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−9% GDP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45% peak inflation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9736" y="960120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1176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2018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51176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B8D0"/>
                </a:solidFill>
              </a:rPr>
              <a:t>JCPOA Exit (US)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59736" y="2029968"/>
            <a:ext cx="21031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20665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−33% in USD terms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40% rial devaluation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90872" y="960120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2019–20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82312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B8D0"/>
                </a:solidFill>
              </a:rPr>
              <a:t>COVID + Sanctions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90872" y="2029968"/>
            <a:ext cx="21031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0665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$3,203 (−47% vs peak)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Compounded shocks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22008" y="960120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13448" y="10058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2021–24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13448" y="12984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B8D0"/>
                </a:solidFill>
              </a:rPr>
              <a:t>Partial Recovery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22008" y="2029968"/>
            <a:ext cx="2103120" cy="731520"/>
          </a:xfrm>
          <a:prstGeom prst="rect">
            <a:avLst/>
          </a:prstGeom>
          <a:solidFill>
            <a:srgbClr val="EBF2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13448" y="20665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+62% vs 2020 trough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1A2533"/>
                </a:solidFill>
              </a:rPr>
              <a:t>30–45% persistent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8600" y="29443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</a:rPr>
              <a:t>Economic Transmission Channels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310128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3272" y="3401568"/>
            <a:ext cx="502920" cy="502920"/>
          </a:xfrm>
          <a:prstGeom prst="ellipse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OIL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" y="39776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</a:rPr>
              <a:t>Oil Revenue Channel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" y="422452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Oil = 60–70% of government revenues. Any export shock creates immediate fiscal pressure → monetisation → inflation via currency.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9736" y="3310128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64408" y="340156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569464" y="39776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</a:rPr>
              <a:t>Exchange Rate Channel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9464" y="422452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Rial devaluation amplifies import costs → structural inflation. In 2018, the rial lost &gt;60% of its value within 12 months of JCPOA exit.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90872" y="3310128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95544" y="3401568"/>
            <a:ext cx="502920" cy="50292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95544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00600" y="39776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</a:rPr>
              <a:t>Labour Lag Effect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22452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Unemployment impact is typically lagged 1–2 years — formal sector contraction precedes labour market adjustment by several quarters.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22008" y="3310128"/>
            <a:ext cx="21031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726680" y="3401568"/>
            <a:ext cx="502920" cy="502920"/>
          </a:xfrm>
          <a:prstGeom prst="ellipse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26680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FDI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31736" y="3977640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F3C"/>
                </a:solidFill>
              </a:rPr>
              <a:t>FDI Freeze Effect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31736" y="4224528"/>
            <a:ext cx="188366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9A"/>
                </a:solidFill>
              </a:rPr>
              <a:t>Conflict escalation triggers FDI collapse. Without foreign capital, the domestic investment gap widens → long-term productivity loss.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71524"/>
          </a:solidFill>
          <a:ln w="12700">
            <a:solidFill>
              <a:srgbClr val="0715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108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80A0"/>
                </a:solidFill>
              </a:rPr>
              <a:t>Iran ARIMA Economic Analysis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580A0"/>
                </a:solidFill>
              </a:rPr>
              <a:t>1990 – 2029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5580A0"/>
                </a:solidFill>
              </a:rPr>
              <a:t>Economic Research Unit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4206240"/>
            <a:ext cx="109728" cy="109728"/>
          </a:xfrm>
          <a:prstGeom prst="ellipse">
            <a:avLst/>
          </a:prstGeom>
          <a:solidFill>
            <a:srgbClr val="1E7EA1"/>
          </a:solidFill>
          <a:ln w="12700">
            <a:solidFill>
              <a:srgbClr val="1E7EA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4370832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4535424"/>
            <a:ext cx="109728" cy="1097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700016"/>
            <a:ext cx="109728" cy="109728"/>
          </a:xfrm>
          <a:prstGeom prst="ellipse">
            <a:avLst/>
          </a:prstGeom>
          <a:solidFill>
            <a:srgbClr val="C05050"/>
          </a:solidFill>
          <a:ln w="12700">
            <a:solidFill>
              <a:srgbClr val="C05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548640"/>
            <a:ext cx="5532120" cy="804672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548640"/>
            <a:ext cx="50292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54864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60350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All three series are I(1)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77640" y="87782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First differencing required confirms Iran's economy undergoes persistent structural shifts, not transitory fluctuations.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83280" y="1435608"/>
            <a:ext cx="5532120" cy="804672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1435608"/>
            <a:ext cx="50292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435608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149047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GDP model is highly reliable (R²=0.882)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77640" y="176479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Modest recovery trajectory to ~$5,637 by 2029, still ~30% below the 2011–12 peak, with oil/sanctions risk creating wide confidence bands.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2322576"/>
            <a:ext cx="5532120" cy="804672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2322576"/>
            <a:ext cx="50292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322576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377440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Inflation is structurally embedded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77640" y="26517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ARIMA alone inadequate (R²=0.28). Structural/VAR models needed. Exchange rate reform is the critical missing policy lever.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3209544"/>
            <a:ext cx="5532120" cy="804672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3209544"/>
            <a:ext cx="50292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20954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326440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Geopolitical risk is the dominant variable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77640" y="353872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Conflict escalation could cut GDP 19% and spike inflation to 52% — historically consistent with 2018–2020 experience.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83280" y="4096512"/>
            <a:ext cx="5532120" cy="804672"/>
          </a:xfrm>
          <a:prstGeom prst="rect">
            <a:avLst/>
          </a:prstGeom>
          <a:solidFill>
            <a:srgbClr val="0F2D4E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4096512"/>
            <a:ext cx="502920" cy="8046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0965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F3C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77640" y="4151376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Policy Priorities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77640" y="44256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</a:rPr>
              <a:t>Exchange rate anchoring, oil revenue diversification, and diplomatic risk mitigation are the three levers for baseline achievement.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4892040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A5A7A"/>
                </a:solidFill>
              </a:rPr>
              <a:t>Iran ARIMA Economic Analysis  ·  1990–2029  ·  Economic Research Unit  ·  March 2026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5A7A"/>
                </a:solidFill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Iran ARIMA Economic Analysis – Report</dc:title>
  <dc:subject>PptxGenJS Presentation</dc:subject>
  <dc:creator>Economic Research Unit</dc:creator>
  <cp:lastModifiedBy>Economic Research Unit</cp:lastModifiedBy>
  <cp:revision>1</cp:revision>
  <dcterms:created xsi:type="dcterms:W3CDTF">2026-03-19T14:54:35Z</dcterms:created>
  <dcterms:modified xsi:type="dcterms:W3CDTF">2026-03-19T14:54:35Z</dcterms:modified>
</cp:coreProperties>
</file>